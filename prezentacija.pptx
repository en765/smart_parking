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2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5" r:id="rId20"/>
    <p:sldId id="276" r:id="rId21"/>
    <p:sldId id="277" r:id="rId22"/>
  </p:sldIdLst>
  <p:sldSz cx="12192000" cy="6858000"/>
  <p:notesSz cx="6858000" cy="12192000"/>
  <p:embeddedFontLst>
    <p:embeddedFont>
      <p:font typeface="Consolas" panose="020B0609020204030204" pitchFamily="49" charset="0"/>
      <p:regular r:id="rId24"/>
      <p:bold r:id="rId25"/>
      <p:italic r:id="rId26"/>
      <p:boldItalic r:id="rId27"/>
    </p:embeddedFont>
    <p:embeddedFont>
      <p:font typeface="Raleway" pitchFamily="2" charset="77"/>
      <p:regular r:id="rId28"/>
    </p:embeddedFont>
    <p:embeddedFont>
      <p:font typeface="Raleway Light" pitchFamily="2" charset="77"/>
      <p:regular r:id="rId29"/>
    </p:embeddedFont>
    <p:embeddedFont>
      <p:font typeface="Roboto" panose="02000000000000000000" pitchFamily="2" charset="0"/>
      <p:regular r:id="rId30"/>
      <p:bold r:id="rId31"/>
      <p:italic r:id="rId3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59" d="100"/>
          <a:sy n="159" d="100"/>
        </p:scale>
        <p:origin x="31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3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2.fntdata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6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1.fntdata"/><Relationship Id="rId32" Type="http://schemas.openxmlformats.org/officeDocument/2006/relationships/font" Target="fonts/font9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28" Type="http://schemas.openxmlformats.org/officeDocument/2006/relationships/font" Target="fonts/font5.fntdata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8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font" Target="fonts/font4.fntdata"/><Relationship Id="rId30" Type="http://schemas.openxmlformats.org/officeDocument/2006/relationships/font" Target="fonts/font7.fntdata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6389745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CECF3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sv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sv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11" Type="http://schemas.openxmlformats.org/officeDocument/2006/relationships/image" Target="../media/image9.png"/><Relationship Id="rId5" Type="http://schemas.openxmlformats.org/officeDocument/2006/relationships/image" Target="../media/image14.png"/><Relationship Id="rId10" Type="http://schemas.openxmlformats.org/officeDocument/2006/relationships/image" Target="../media/image19.svg"/><Relationship Id="rId4" Type="http://schemas.openxmlformats.org/officeDocument/2006/relationships/image" Target="../media/image13.svg"/><Relationship Id="rId9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4.png"/><Relationship Id="rId3" Type="http://schemas.openxmlformats.org/officeDocument/2006/relationships/image" Target="../media/image29.png"/><Relationship Id="rId7" Type="http://schemas.openxmlformats.org/officeDocument/2006/relationships/image" Target="../media/image33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2.png"/><Relationship Id="rId11" Type="http://schemas.openxmlformats.org/officeDocument/2006/relationships/image" Target="../media/image37.svg"/><Relationship Id="rId5" Type="http://schemas.openxmlformats.org/officeDocument/2006/relationships/image" Target="../media/image31.svg"/><Relationship Id="rId10" Type="http://schemas.openxmlformats.org/officeDocument/2006/relationships/image" Target="../media/image36.png"/><Relationship Id="rId4" Type="http://schemas.openxmlformats.org/officeDocument/2006/relationships/image" Target="../media/image30.png"/><Relationship Id="rId9" Type="http://schemas.openxmlformats.org/officeDocument/2006/relationships/image" Target="../media/image35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574" y="1741587"/>
            <a:ext cx="2284455" cy="113704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61574" y="3126680"/>
            <a:ext cx="4744323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Smart Parking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661574" y="3891459"/>
            <a:ext cx="1147813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IoT sustav za detekciju i prikaz zauzetosti parkirnih mjesta u stvarnom vremenu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661574" y="4342110"/>
            <a:ext cx="1291994" cy="323652"/>
          </a:xfrm>
          <a:prstGeom prst="roundRect">
            <a:avLst>
              <a:gd name="adj" fmla="val 17170"/>
            </a:avLst>
          </a:prstGeom>
          <a:noFill/>
          <a:ln w="6350">
            <a:solidFill>
              <a:srgbClr val="1B1B27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767140" y="4398070"/>
            <a:ext cx="1690447" cy="2117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000" dirty="0">
                <a:solidFill>
                  <a:srgbClr val="1B1B27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AK.G. 2025./2026.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61574" y="4851797"/>
            <a:ext cx="1147813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Elena Nesek · Petar Kavec · Karlo Raštegorac · Matan Budimir · Sven Đukić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1793577"/>
            <a:ext cx="4744323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Sadržaj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574" y="2641005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574" y="2902942"/>
            <a:ext cx="5351626" cy="1905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661574" y="3023691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Uvod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61574" y="3381375"/>
            <a:ext cx="535162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Problem parkiranja u urbanim sredinama i cilj sustava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178495" y="2641005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178495" y="2902942"/>
            <a:ext cx="5351626" cy="1905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6178495" y="3023691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Opis rješenja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6178495" y="3381375"/>
            <a:ext cx="535162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Arhitektura, komponente i tok podataka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61574" y="3935313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61574" y="4197251"/>
            <a:ext cx="5351626" cy="1905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661574" y="4318000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IoT platforma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661574" y="4675684"/>
            <a:ext cx="535162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ThingsBoard - telemetrija, Rule Engine i dashboard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78495" y="3935313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178495" y="4197251"/>
            <a:ext cx="5351626" cy="1905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6178495" y="4318000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Korisničke aplikacije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178495" y="4675684"/>
            <a:ext cx="5351626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Web aplikacija s kartom, statistikom i real-time ažuriranjem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1895078"/>
            <a:ext cx="4744323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Uvod - Problem i cilj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5233360" y="2659856"/>
            <a:ext cx="6296860" cy="23029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spcAft>
                <a:spcPts val="1450"/>
              </a:spcAft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SmartParking je IoT sustav za detekciju i prikaz zauzetosti parkirnih mjesta u stvarnom vremenu. Pronalaženje slobodnog mjesta čest je problem u urbanim sredinama, na fakultetima, trgovačkim centrima, poslovnim zonama i javnim garažama. Vozači provode više vremena kružeći, što povećava prometno opterećenje, potrošnju goriva i emisiju štetnih plinova.</a:t>
            </a:r>
            <a:endParaRPr lang="en-US" sz="1300" dirty="0"/>
          </a:p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Cilj sustava je korisnicima omogućiti brz pregled dostupnih mjesta putem web aplikacije - bez fizičkog obilaska parkirališta. Sustav također pomaže upraviteljima parkirališta u praćenju popunjenosti i analizi korištenja kapaciteta.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1175643"/>
            <a:ext cx="4744323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Slučajevi uporabe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574" y="2023070"/>
            <a:ext cx="1147813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Tri glavna slučaja uporabe sustava SmartParking: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574" y="2473722"/>
            <a:ext cx="3512653" cy="3208536"/>
          </a:xfrm>
          <a:prstGeom prst="roundRect">
            <a:avLst>
              <a:gd name="adj" fmla="val 216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833218" y="2645370"/>
            <a:ext cx="496081" cy="496094"/>
          </a:xfrm>
          <a:prstGeom prst="roundRect">
            <a:avLst>
              <a:gd name="adj" fmla="val 15358475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969641" y="2781697"/>
            <a:ext cx="223237" cy="22324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33218" y="3306763"/>
            <a:ext cx="3169364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Pregled slobodnih parkirnih mjesta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33218" y="3922911"/>
            <a:ext cx="3169364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Korisnik pristupa aplikaciji, na karti odabire željeni parking i dobiva prikaz ukupnog broja mjesta, broja slobodnih i zauzetih mjesta te postotka popunjenosti. Uz to se prikazuje status svakog pojedinog parkirnog mjesta.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339521" y="2473722"/>
            <a:ext cx="3512653" cy="3208536"/>
          </a:xfrm>
          <a:prstGeom prst="roundRect">
            <a:avLst>
              <a:gd name="adj" fmla="val 216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Shape 7"/>
          <p:cNvSpPr/>
          <p:nvPr/>
        </p:nvSpPr>
        <p:spPr>
          <a:xfrm>
            <a:off x="4511165" y="2645370"/>
            <a:ext cx="496081" cy="496094"/>
          </a:xfrm>
          <a:prstGeom prst="roundRect">
            <a:avLst>
              <a:gd name="adj" fmla="val 15358475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647588" y="2781697"/>
            <a:ext cx="223237" cy="22324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11165" y="3306763"/>
            <a:ext cx="314257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Automatsko ažuriranje zauzetosti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4511165" y="3664446"/>
            <a:ext cx="3169364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Kada senzor ili simulacija detektiraju promjenu stanja, promjena se šalje poslužitelju, sprema u bazu podataka i automatski prikazuje u korisničkom sučelju bez potrebe za ručnim osvježavanjem stranice.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8017468" y="2473722"/>
            <a:ext cx="3512653" cy="3208536"/>
          </a:xfrm>
          <a:prstGeom prst="roundRect">
            <a:avLst>
              <a:gd name="adj" fmla="val 216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1"/>
          <p:cNvSpPr/>
          <p:nvPr/>
        </p:nvSpPr>
        <p:spPr>
          <a:xfrm>
            <a:off x="8189112" y="2645370"/>
            <a:ext cx="496081" cy="496094"/>
          </a:xfrm>
          <a:prstGeom prst="roundRect">
            <a:avLst>
              <a:gd name="adj" fmla="val 15358475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25535" y="2781697"/>
            <a:ext cx="223237" cy="223242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189112" y="3306763"/>
            <a:ext cx="236204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Upravljanje parkiralištem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189112" y="3664446"/>
            <a:ext cx="3169364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Administrator ili upravitelj parkinga može pratiti opterećenje parkirališta i planirati bolje upravljanje dostupnim prostorom.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1177032"/>
            <a:ext cx="4744323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Srodna rješenja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574" y="2024459"/>
            <a:ext cx="1086854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SmartParking projekt slijedi istu osnovnu ideju kao postojeća rješenja u pametnim gradovima, ali je prilagođen studentskom projektnom okruženju i kombinira fizički senzor, simulaciju, IoT platformu, backend sustav i web aplikaciju.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574" y="2739727"/>
            <a:ext cx="5351626" cy="1520230"/>
          </a:xfrm>
          <a:prstGeom prst="roundRect">
            <a:avLst>
              <a:gd name="adj" fmla="val 4569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45918" y="2924076"/>
            <a:ext cx="236799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Santander Smart Parking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45918" y="3281759"/>
            <a:ext cx="4982939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Aplikacija koja koristi podatke iz senzorskog sustava za prikaz dostupnosti parkirnih mjesta u stvarnom vremenu.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178495" y="2739727"/>
            <a:ext cx="5351626" cy="1520230"/>
          </a:xfrm>
          <a:prstGeom prst="roundRect">
            <a:avLst>
              <a:gd name="adj" fmla="val 4569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6362838" y="2924076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SmartSantander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62838" y="3281759"/>
            <a:ext cx="4982939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Širi IoT projekt u gradu Santanderu gdje su senzori korišteni za različite gradske usluge, uključujući promet i navođenje vozača prema slobodnim parkirnim mjestima.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61574" y="4425255"/>
            <a:ext cx="5351626" cy="1255613"/>
          </a:xfrm>
          <a:prstGeom prst="roundRect">
            <a:avLst>
              <a:gd name="adj" fmla="val 5532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45918" y="4609604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Parclick (Barcelona)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45918" y="4967288"/>
            <a:ext cx="4982939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Rješenje koje korisnicima omogućuje pronalazak i rezervaciju parkirnih mjesta.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178495" y="4425255"/>
            <a:ext cx="5351626" cy="1255613"/>
          </a:xfrm>
          <a:prstGeom prst="roundRect">
            <a:avLst>
              <a:gd name="adj" fmla="val 5532"/>
            </a:avLst>
          </a:prstGeom>
          <a:solidFill>
            <a:srgbClr val="FFFFFF">
              <a:alpha val="95000"/>
            </a:srgbClr>
          </a:solidFill>
          <a:ln w="190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362838" y="4609604"/>
            <a:ext cx="215210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EasyPark (Amsterdam)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362838" y="4967288"/>
            <a:ext cx="498293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Aplikacija za pronalazak i upravljanje parkiranjem.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1440259"/>
            <a:ext cx="5270269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Fizički uređaj i simulacija</a:t>
            </a:r>
            <a:endParaRPr lang="en-US" sz="3250" dirty="0"/>
          </a:p>
        </p:txBody>
      </p:sp>
      <p:sp>
        <p:nvSpPr>
          <p:cNvPr id="3" name="Shape 1"/>
          <p:cNvSpPr/>
          <p:nvPr/>
        </p:nvSpPr>
        <p:spPr>
          <a:xfrm>
            <a:off x="542515" y="2205038"/>
            <a:ext cx="5470686" cy="1796355"/>
          </a:xfrm>
          <a:prstGeom prst="roundRect">
            <a:avLst>
              <a:gd name="adj" fmla="val 6629"/>
            </a:avLst>
          </a:prstGeom>
          <a:solidFill>
            <a:srgbClr val="1B1B27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707809" y="2370336"/>
            <a:ext cx="267695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Fizički senzorski čvor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707809" y="2794099"/>
            <a:ext cx="5140097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Jedno parkirno mjesto opremljeno je </a:t>
            </a:r>
            <a:r>
              <a:rPr lang="en-US" sz="13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ESP32 mikrokontrolerom</a:t>
            </a:r>
            <a:r>
              <a:rPr 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 </a:t>
            </a:r>
            <a:r>
              <a:rPr lang="en-US" sz="13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ultrazvučnim senzorom HC-SR04</a:t>
            </a:r>
            <a:r>
              <a:rPr 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Senzor mjeri udaljenost - ako je manja od praga, mjesto je zauzeto. </a:t>
            </a:r>
            <a:r>
              <a:rPr lang="en-US" sz="1300" b="1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LED dioda</a:t>
            </a:r>
            <a:r>
              <a:rPr lang="en-US" sz="130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lokalno prikazuje stanje (zelena = slobodno).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03904" y="2370336"/>
            <a:ext cx="267695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Simulacijski modul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03904" y="2794099"/>
            <a:ext cx="5232567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Ostala parkirna mjesta simuliraju se programski kao virtualni senzori koji periodički generiraju promjene stanja. Simulirani podaci obrađuju se identično kao podaci stvarnog senzora - šalju se poslužitelju, spremaju u bazu i prikazuju u aplikaciji.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661574" y="4187428"/>
            <a:ext cx="3512653" cy="1230213"/>
          </a:xfrm>
          <a:prstGeom prst="roundRect">
            <a:avLst>
              <a:gd name="adj" fmla="val 564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833218" y="4359077"/>
            <a:ext cx="244181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Pregled slobodnih mjesta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833218" y="4716760"/>
            <a:ext cx="316936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Korisnik odabire parking na karti i vidi stanje zauzetosti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39521" y="4187428"/>
            <a:ext cx="3512653" cy="1230213"/>
          </a:xfrm>
          <a:prstGeom prst="roundRect">
            <a:avLst>
              <a:gd name="adj" fmla="val 564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511165" y="4359077"/>
            <a:ext cx="212868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Automatsko ažuriranje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511165" y="4716760"/>
            <a:ext cx="316936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Promjene se prikazuju bez ručnog osvježavanja stranice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8017468" y="4187428"/>
            <a:ext cx="3512653" cy="1230213"/>
          </a:xfrm>
          <a:prstGeom prst="roundRect">
            <a:avLst>
              <a:gd name="adj" fmla="val 564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189112" y="4359077"/>
            <a:ext cx="215864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Upravljanje parkingom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8189112" y="4716760"/>
            <a:ext cx="316936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Administrator prati opterećenje i planira kapacitete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530622"/>
            <a:ext cx="621580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Fizički IoT uređaj - logika rada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574" y="1378049"/>
            <a:ext cx="1147813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Logika rada ESP32 temelji se na ciklusu koji se ponavlja u stalnim vremenskim razmacima: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1574" y="1828701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01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61574" y="2090638"/>
            <a:ext cx="5351626" cy="1905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61574" y="2211388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Mjerenje udaljenosti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61574" y="2569071"/>
            <a:ext cx="5351626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HC-SR04 emitira ultrazvučni signal i mjeri vrijeme povratka odjeka. Iz izmjerenog vremena izračunava se udaljenost na temelju brzine zvuka u zraku.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178495" y="1828701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02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178495" y="2090638"/>
            <a:ext cx="5351626" cy="1905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178495" y="2211388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Određivanje stanja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178495" y="2569071"/>
            <a:ext cx="535162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Izmjerena udaljenost uspoređuje se s pragom. Ako je udaljenost veca od nule i manja od praga - mjesto je zauzeto. Inace - slobodno.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61574" y="3652242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03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1574" y="3914180"/>
            <a:ext cx="5351626" cy="1905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661574" y="4034929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Ažuriranje LED diode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61574" y="4392613"/>
            <a:ext cx="5351626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Mikrokontroler upravlja LED diodom kao lokalnim aktuatorom. Promjena stanja diode izvodi se samo kada se stvarno stanje razlikuje od trenutno prikazanog.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178495" y="3652242"/>
            <a:ext cx="330688" cy="20667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aleway Light" pitchFamily="34" charset="0"/>
                <a:ea typeface="Raleway Light" pitchFamily="34" charset="-122"/>
                <a:cs typeface="Raleway Light" pitchFamily="34" charset="-120"/>
              </a:rPr>
              <a:t>04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178495" y="3914180"/>
            <a:ext cx="5351626" cy="19050"/>
          </a:xfrm>
          <a:prstGeom prst="rect">
            <a:avLst/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78495" y="4034929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Slanje MQTT poruke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178495" y="4392613"/>
            <a:ext cx="5351626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Poruka se šalje samo pri prvom ocitanju i pri svakoj promjeni stanja (ne u svakom ciklusu). Format: JSON s poljima parking_id, spotId, occupied, online, source, timestamp.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61574" y="5496520"/>
            <a:ext cx="10868547" cy="644823"/>
          </a:xfrm>
          <a:prstGeom prst="roundRect">
            <a:avLst>
              <a:gd name="adj" fmla="val 10773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868" y="5736233"/>
            <a:ext cx="206667" cy="165298"/>
          </a:xfrm>
          <a:prstGeom prst="rect">
            <a:avLst/>
          </a:prstGeom>
        </p:spPr>
      </p:pic>
      <p:sp>
        <p:nvSpPr>
          <p:cNvPr id="22" name="Text 19"/>
          <p:cNvSpPr/>
          <p:nvPr/>
        </p:nvSpPr>
        <p:spPr>
          <a:xfrm>
            <a:off x="1198830" y="5686623"/>
            <a:ext cx="1077558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      Ovakav pristup znatno smanjuje mrežni promet i opterecenje brokera jer se podaci prenose tek kada dode do stvarne promjene.     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1311275"/>
            <a:ext cx="6340217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Raspberry Pi kao mrežni prilaz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574" y="2158702"/>
            <a:ext cx="1147813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Raspberry Pi u sustavu ima ulogu mrežnog prilaza - posrednika između fizičkih IoT uređaja i ostatka sustava.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61574" y="2774652"/>
            <a:ext cx="267695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Zašto mrežni prilaz?</a:t>
            </a:r>
            <a:endParaRPr lang="en-US" sz="1600" dirty="0"/>
          </a:p>
        </p:txBody>
      </p:sp>
      <p:sp>
        <p:nvSpPr>
          <p:cNvPr id="5" name="Text 3"/>
          <p:cNvSpPr/>
          <p:nvPr/>
        </p:nvSpPr>
        <p:spPr>
          <a:xfrm>
            <a:off x="661574" y="3198416"/>
            <a:ext cx="5232567" cy="17033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Senzorski uređaji mogu imati ogranicene mogucnosti obrade i memoriju</a:t>
            </a:r>
            <a:endParaRPr lang="en-US" sz="13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Mogu se nalaziti u lokalnoj mreži koja nije izravno dostupna iz oblaka</a:t>
            </a:r>
            <a:endParaRPr lang="en-US" sz="13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Raspberry Pi prima MQTT poruke od ESP32 senzora i prosljeduje ih prema ostalim komponentama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303904" y="2774652"/>
            <a:ext cx="267695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Prednosti: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303904" y="3198416"/>
            <a:ext cx="5232567" cy="229046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Fleksibilnije upravljanje komunikacijom</a:t>
            </a:r>
            <a:endParaRPr lang="en-US" sz="13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Ako se doda više fizičkih senzora, svi se mogu povezivati na isti mrežni prilaz</a:t>
            </a:r>
            <a:endParaRPr lang="en-US" sz="13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Raspberry Pi može objedinjavati poruke, filtrirati ih, provjeravati ispravnost podataka i prosljedivati ih dalje</a:t>
            </a:r>
            <a:endParaRPr lang="en-US" sz="13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 Raspberry Pi može biti pokrenut lokalni Mosquitto MQTT broker ili gateway komponenta koja prosljeduje poruke prema ThingsBoardu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862509"/>
            <a:ext cx="4744323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MQTT komunikacija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574" y="1709936"/>
            <a:ext cx="1086854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MQTT je komunikacijski protokol temeljen na publish-subscribe modelu, cesto korišten u IoT sustavima. Uređaji ne šalju poruke izravno jedan drugome, nego poruke objavljuju na odredene teme, a drugi uređaji ili servisi se pretplacuju na te teme.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574" y="2425204"/>
            <a:ext cx="3512653" cy="2288679"/>
          </a:xfrm>
          <a:prstGeom prst="roundRect">
            <a:avLst>
              <a:gd name="adj" fmla="val 303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33218" y="2596852"/>
            <a:ext cx="2414726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Publish-Subscribe model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3218" y="2954536"/>
            <a:ext cx="3169364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Uređaji objavljuju poruke na teme (topics). MQTT broker prima poruke od publishera i prosljeduje ih svim subscriberima pretplacenim na odgovarajuce teme.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339521" y="2425204"/>
            <a:ext cx="3512653" cy="2288679"/>
          </a:xfrm>
          <a:prstGeom prst="roundRect">
            <a:avLst>
              <a:gd name="adj" fmla="val 303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4511165" y="2596852"/>
            <a:ext cx="2366407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Eclipse Mosquitto broker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4511165" y="2954536"/>
            <a:ext cx="3169364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 Docker Compose konfiguraciji koristi se Eclipse Mosquitto kao MQTT broker. Lagan je i cesto korišten broker prikladan za IoT projekte. Konfiguracijske datoteke nalaze se u direktoriju docker/mqtt.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17468" y="2425204"/>
            <a:ext cx="3512653" cy="2288679"/>
          </a:xfrm>
          <a:prstGeom prst="roundRect">
            <a:avLst>
              <a:gd name="adj" fmla="val 3035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8189112" y="2596852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Format MQTT poruke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8189112" y="2954536"/>
            <a:ext cx="3169364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Poruka sadrži: parking_id, spotId, occupied (bool), online (bool), source (sensor/simulation), timestamp. Ovaj format omogucuje backendu da zna koje mjesto treba ažurirati i je li podatak sa senzora ili iz simulacije.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61574" y="4899918"/>
            <a:ext cx="10868547" cy="909439"/>
          </a:xfrm>
          <a:prstGeom prst="roundRect">
            <a:avLst>
              <a:gd name="adj" fmla="val 7638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868" y="5139630"/>
            <a:ext cx="206667" cy="165298"/>
          </a:xfrm>
          <a:prstGeom prst="rect">
            <a:avLst/>
          </a:prstGeom>
        </p:spPr>
      </p:pic>
      <p:sp>
        <p:nvSpPr>
          <p:cNvPr id="15" name="Text 12"/>
          <p:cNvSpPr/>
          <p:nvPr/>
        </p:nvSpPr>
        <p:spPr>
          <a:xfrm>
            <a:off x="1198830" y="5090021"/>
            <a:ext cx="1016599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 SmartParking sustavu MQTT se koristi za komunikaciju između senzorskog dijela, gatewaya, simulacije, internog MQTT brokera i ThingsBoard platforme.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1549003"/>
            <a:ext cx="6805740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Backend API servis i SQLite baza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574" y="2479080"/>
            <a:ext cx="4233558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Backend API servis (Node.js + Express)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61574" y="2902843"/>
            <a:ext cx="5232567" cy="14966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REST API endpoint za dohvat svih parkinga i njihovih mjesta</a:t>
            </a:r>
            <a:endParaRPr lang="en-US" sz="13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WebSocket poslužitelj za real-time komunikaciju s frontendima</a:t>
            </a:r>
            <a:endParaRPr lang="en-US" sz="13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Kada backend primi promjenu stanja: validira podatke, ažurira SQLite bazu, šalje WebSocket poruku svim spojenim klijentima</a:t>
            </a:r>
            <a:endParaRPr lang="en-US" sz="13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Prima promjene iz simulacije i senzorskog dijela sustava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303904" y="2479080"/>
            <a:ext cx="2698385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SQLite baza podataka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03904" y="2902843"/>
            <a:ext cx="5232567" cy="23483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Jednostavna, ne zahtijeva poseban database server</a:t>
            </a:r>
            <a:endParaRPr lang="en-US" sz="13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Svi podaci u jednoj datoteci: docker/db/smartparking.db</a:t>
            </a:r>
            <a:endParaRPr lang="en-US" sz="13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Tablica "parking": id, naziv, geografska širina, geografska dužina (za prikaz markera na karti)</a:t>
            </a:r>
            <a:endParaRPr lang="en-US" sz="13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Tablica "parking_spot": oznaka mjesta, stanje zauzetosti, online status, izvor podatka, vrijeme zadnjeg ažuriranja</a:t>
            </a:r>
            <a:endParaRPr lang="en-US" sz="13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Stanje se ne gubi nakon osvježavanja stranice ili ponovnog pokretanja aplikacije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567829"/>
            <a:ext cx="7896027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Docker Compose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574" y="1415256"/>
            <a:ext cx="11478132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Cijeli aplikacijski dio sustava pokrece se pomocu Docker Composea jednom naredbom: docker compose up -d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61574" y="1865908"/>
            <a:ext cx="2593116" cy="1747143"/>
          </a:xfrm>
          <a:prstGeom prst="roundRect">
            <a:avLst>
              <a:gd name="adj" fmla="val 3976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833218" y="2037556"/>
            <a:ext cx="2249828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mqtt - image: eclipse-mosquitto:2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833218" y="2653705"/>
            <a:ext cx="224982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Lokalni MQTT broker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19985" y="1865908"/>
            <a:ext cx="2593216" cy="1747143"/>
          </a:xfrm>
          <a:prstGeom prst="roundRect">
            <a:avLst>
              <a:gd name="adj" fmla="val 3976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3591629" y="2037556"/>
            <a:ext cx="2249927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backend - image: matanbudimir/intstv:backend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3591629" y="2912170"/>
            <a:ext cx="2249927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Montira SQLite bazu iz lokalne datoteke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178495" y="1865908"/>
            <a:ext cx="2593116" cy="1747143"/>
          </a:xfrm>
          <a:prstGeom prst="roundRect">
            <a:avLst>
              <a:gd name="adj" fmla="val 3976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6350139" y="2037556"/>
            <a:ext cx="2249828" cy="77539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frontend - image: matanbudimir/intstv:frontend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350139" y="2912170"/>
            <a:ext cx="2249828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 web aplikacija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936905" y="1865908"/>
            <a:ext cx="2593216" cy="1747143"/>
          </a:xfrm>
          <a:prstGeom prst="roundRect">
            <a:avLst>
              <a:gd name="adj" fmla="val 3976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9108549" y="2037556"/>
            <a:ext cx="2249927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haproxy - image: haproxy:alpine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08549" y="2653705"/>
            <a:ext cx="2249927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Izlaže port 80 prema korisniku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61574" y="3778349"/>
            <a:ext cx="3512653" cy="1230213"/>
          </a:xfrm>
          <a:prstGeom prst="roundRect">
            <a:avLst>
              <a:gd name="adj" fmla="val 564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833218" y="3949998"/>
            <a:ext cx="3169364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simulation - image: matanbudimir/intstv:simulation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33218" y="4566146"/>
            <a:ext cx="316936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Virtualni senzori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339521" y="3778349"/>
            <a:ext cx="3512653" cy="1230213"/>
          </a:xfrm>
          <a:prstGeom prst="roundRect">
            <a:avLst>
              <a:gd name="adj" fmla="val 564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511165" y="3949998"/>
            <a:ext cx="3169364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gateway - image: matanbudimir/intstv:gateway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4511165" y="4566146"/>
            <a:ext cx="3169364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Mrežni prolaz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8017468" y="3778349"/>
            <a:ext cx="3512653" cy="1230213"/>
          </a:xfrm>
          <a:prstGeom prst="roundRect">
            <a:avLst>
              <a:gd name="adj" fmla="val 564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/>
          <p:nvPr/>
        </p:nvSpPr>
        <p:spPr>
          <a:xfrm>
            <a:off x="8189112" y="3949998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ngrok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189112" y="4307681"/>
            <a:ext cx="3169364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Javni HTTPS tunel (ovisi o NGROK_AUTHTOKEN env varijabli)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661574" y="5194598"/>
            <a:ext cx="10868547" cy="909439"/>
          </a:xfrm>
          <a:prstGeom prst="roundRect">
            <a:avLst>
              <a:gd name="adj" fmla="val 7638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868" y="5434310"/>
            <a:ext cx="206667" cy="165298"/>
          </a:xfrm>
          <a:prstGeom prst="rect">
            <a:avLst/>
          </a:prstGeom>
        </p:spPr>
      </p:pic>
      <p:sp>
        <p:nvSpPr>
          <p:cNvPr id="27" name="Text 24"/>
          <p:cNvSpPr/>
          <p:nvPr/>
        </p:nvSpPr>
        <p:spPr>
          <a:xfrm>
            <a:off x="1198830" y="5384701"/>
            <a:ext cx="10165996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Docker Compose definira ovisnosti između servisa - simulacija ceka da MQTT servis bude pokrenut i da backend prode healthcheck na portu 3000 prije nego što krene.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620713"/>
            <a:ext cx="3710589" cy="3876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Arhitektura sustava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661574" y="5345906"/>
            <a:ext cx="2160037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Aplikacijski dio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661574" y="5632648"/>
            <a:ext cx="3420679" cy="520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Korisnik pristupa preko </a:t>
            </a:r>
            <a:r>
              <a:rPr lang="en-US" sz="9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HAProxy load balancera</a:t>
            </a: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koji usmjerava zahtjeve na Frontend (HTTP/5173) ili Backend API (HTTP/3000).</a:t>
            </a:r>
            <a:endParaRPr lang="en-US" sz="950" dirty="0"/>
          </a:p>
        </p:txBody>
      </p:sp>
      <p:sp>
        <p:nvSpPr>
          <p:cNvPr id="6" name="Text 3"/>
          <p:cNvSpPr/>
          <p:nvPr/>
        </p:nvSpPr>
        <p:spPr>
          <a:xfrm>
            <a:off x="4391213" y="5345906"/>
            <a:ext cx="2160037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Garaža (fizički dio)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391213" y="5632648"/>
            <a:ext cx="3420679" cy="5208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Senzori komuniciraju s MQTT Serverom (TCP/1883). </a:t>
            </a:r>
            <a:r>
              <a:rPr lang="en-US" sz="9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Raspberry Pi</a:t>
            </a: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djeluje kao mrežni prilaz između senzora i ThingsBoard platforme.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8120852" y="5345906"/>
            <a:ext cx="2160037" cy="19377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ThingsBoard server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8120852" y="5632648"/>
            <a:ext cx="3420679" cy="3472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IoT platforma prima podatke s MQTT Servera (TCP/1883) i šalje ih prema Backend API-ju (HTTP/80).</a:t>
            </a:r>
            <a:endParaRPr lang="en-US" sz="950" dirty="0"/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C2D6798A-5F4B-0086-43DE-CAB0E89EFD8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569726" y="1252468"/>
            <a:ext cx="5803010" cy="38493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1089025"/>
            <a:ext cx="6029373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Glavne komponente sustava</a:t>
            </a:r>
            <a:endParaRPr lang="en-US" sz="3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1574" y="1936452"/>
            <a:ext cx="413434" cy="413445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574" y="2556570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IoT uređaj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661574" y="2914253"/>
            <a:ext cx="533089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ESP32 + HC-SR04 + LED dioda; Raspberry Pi kao mrežni prilaz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99132" y="1936452"/>
            <a:ext cx="413434" cy="41344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199132" y="2556570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MQTT i Gateway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199132" y="2914253"/>
            <a:ext cx="533098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Eclipse Mosquitto broker; gateway servis za prosljeđivanje poruka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61574" y="3509566"/>
            <a:ext cx="413434" cy="413445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661574" y="4129683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Backend i Baza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661574" y="4487366"/>
            <a:ext cx="5330890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Node.js + Express API; SQLite baza podataka; WebSocket real-time veza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6199132" y="3509566"/>
            <a:ext cx="413434" cy="413445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99132" y="4129683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Frontend i Pristup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6199132" y="4487366"/>
            <a:ext cx="5330989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 + Vite + Leaflet/OpenStreetMap; HAProxy + ngrok za javni pristup</a:t>
            </a:r>
            <a:endParaRPr lang="en-US" sz="1300" dirty="0"/>
          </a:p>
        </p:txBody>
      </p:sp>
      <p:sp>
        <p:nvSpPr>
          <p:cNvPr id="15" name="Shape 9"/>
          <p:cNvSpPr/>
          <p:nvPr/>
        </p:nvSpPr>
        <p:spPr>
          <a:xfrm>
            <a:off x="661574" y="4938018"/>
            <a:ext cx="10868547" cy="644823"/>
          </a:xfrm>
          <a:prstGeom prst="roundRect">
            <a:avLst>
              <a:gd name="adj" fmla="val 10773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26868" y="5177730"/>
            <a:ext cx="206667" cy="165298"/>
          </a:xfrm>
          <a:prstGeom prst="rect">
            <a:avLst/>
          </a:prstGeom>
        </p:spPr>
      </p:pic>
      <p:sp>
        <p:nvSpPr>
          <p:cNvPr id="17" name="Text 10"/>
          <p:cNvSpPr/>
          <p:nvPr/>
        </p:nvSpPr>
        <p:spPr>
          <a:xfrm>
            <a:off x="1198830" y="5128121"/>
            <a:ext cx="10775581" cy="26461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Sve softverske komponente pokreću se kao zasebni Docker servisi definirani u jednoj Docker Compose konfiguraciji.</a:t>
            </a:r>
            <a:endParaRPr lang="en-US" sz="13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562769"/>
            <a:ext cx="6927875" cy="4392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7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Tok podataka - od senzora do korisnika</a:t>
            </a:r>
            <a:endParaRPr lang="en-US" sz="2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74900" y="1240929"/>
            <a:ext cx="8241796" cy="450373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3061730" y="3351197"/>
            <a:ext cx="1909681" cy="2598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Mjerenje i detekcija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7883999" y="3191981"/>
            <a:ext cx="1909681" cy="5196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Gateway i MQTT prijenos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5528292" y="3201364"/>
            <a:ext cx="1909681" cy="51965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Backend → Frontend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661574" y="5879009"/>
            <a:ext cx="10868547" cy="41612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3000"/>
              </a:lnSpc>
              <a:buNone/>
            </a:pPr>
            <a:r>
              <a:rPr lang="en-US" sz="11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Kod simuliranih mjesta tok je kraći, simulacijski servis generira promjenu i šalje je izravno backendu. Backend to obrađuje jednako kao podatke stvarnog senzora, pa je obrada ista bez obzira na izvor.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1528366"/>
            <a:ext cx="4744323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Prednosti arhitekture</a:t>
            </a:r>
            <a:endParaRPr lang="en-US" sz="3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2525" y="2375793"/>
            <a:ext cx="5370676" cy="152023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03066" y="2560141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Modularnost</a:t>
            </a:r>
            <a:endParaRPr lang="en-US" sz="1600" dirty="0"/>
          </a:p>
        </p:txBody>
      </p:sp>
      <p:sp>
        <p:nvSpPr>
          <p:cNvPr id="5" name="Text 2"/>
          <p:cNvSpPr/>
          <p:nvPr/>
        </p:nvSpPr>
        <p:spPr>
          <a:xfrm>
            <a:off x="903066" y="2917825"/>
            <a:ext cx="4925790" cy="7938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Svaka komponenta ima jasnu ulogu: frontend za prikaz, backend za obradu, baza za pohranu, MQTT za IoT komunikaciju, ThingsBoard za nadzor.</a:t>
            </a:r>
            <a:endParaRPr lang="en-US" sz="1300" dirty="0"/>
          </a:p>
        </p:txBody>
      </p:sp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159445" y="2375793"/>
            <a:ext cx="5370676" cy="152023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419987" y="2560141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Skalabilnost</a:t>
            </a:r>
            <a:endParaRPr lang="en-US" sz="1600" dirty="0"/>
          </a:p>
        </p:txBody>
      </p:sp>
      <p:sp>
        <p:nvSpPr>
          <p:cNvPr id="8" name="Text 4"/>
          <p:cNvSpPr/>
          <p:nvPr/>
        </p:nvSpPr>
        <p:spPr>
          <a:xfrm>
            <a:off x="6419987" y="2917825"/>
            <a:ext cx="492579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Novi senzori spajaju se na isti MQTT sustav; novi parkinzi dodaju se u bazu bez promjena arhitekture.</a:t>
            </a:r>
            <a:endParaRPr lang="en-US" sz="130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42525" y="4061321"/>
            <a:ext cx="5370676" cy="1268313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903066" y="4245670"/>
            <a:ext cx="22952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Jednostavno pokretanje</a:t>
            </a:r>
            <a:endParaRPr lang="en-US" sz="1600" dirty="0"/>
          </a:p>
        </p:txBody>
      </p:sp>
      <p:sp>
        <p:nvSpPr>
          <p:cNvPr id="11" name="Text 6"/>
          <p:cNvSpPr/>
          <p:nvPr/>
        </p:nvSpPr>
        <p:spPr>
          <a:xfrm>
            <a:off x="903066" y="4603353"/>
            <a:ext cx="4925790" cy="5419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Docker Compose pokreće sve servise jednom naredbom: </a:t>
            </a:r>
            <a:r>
              <a:rPr lang="en-US" sz="13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docker compose up -d</a:t>
            </a:r>
            <a:endParaRPr lang="en-US" sz="1300" dirty="0"/>
          </a:p>
        </p:txBody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159445" y="4061321"/>
            <a:ext cx="5370676" cy="1268313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419987" y="4245670"/>
            <a:ext cx="311013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Real-time prikaz i hibridni podaci</a:t>
            </a:r>
            <a:endParaRPr lang="en-US" sz="1600" dirty="0"/>
          </a:p>
        </p:txBody>
      </p:sp>
      <p:sp>
        <p:nvSpPr>
          <p:cNvPr id="14" name="Text 8"/>
          <p:cNvSpPr/>
          <p:nvPr/>
        </p:nvSpPr>
        <p:spPr>
          <a:xfrm>
            <a:off x="6419987" y="4603353"/>
            <a:ext cx="4925790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WebSocket osigurava trenutne promjene; sustav kombinira stvarne i simulirane podatke za realističnu demonstraciju.</a:t>
            </a:r>
            <a:endParaRPr lang="en-US" sz="13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233360" y="714573"/>
            <a:ext cx="5904062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IoT platforma - ThingsBoard</a:t>
            </a:r>
            <a:endParaRPr lang="en-US" sz="3250" dirty="0"/>
          </a:p>
        </p:txBody>
      </p:sp>
      <p:sp>
        <p:nvSpPr>
          <p:cNvPr id="4" name="Text 1"/>
          <p:cNvSpPr/>
          <p:nvPr/>
        </p:nvSpPr>
        <p:spPr>
          <a:xfrm>
            <a:off x="5233360" y="1479352"/>
            <a:ext cx="6296860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ThingsBoard (v3.9.1)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je open-source IoT platforma za prikupljanje, obradu, vizualizaciju i upravljanje podacima s IoT uređaja. U SmartParking sustavu koristi se za prihvat telemetrijskih podataka s fizičkog senzora i simulacije te za prikaz na centralnom dashboardu.</a:t>
            </a:r>
            <a:endParaRPr lang="en-US" sz="1300" dirty="0"/>
          </a:p>
        </p:txBody>
      </p:sp>
      <p:sp>
        <p:nvSpPr>
          <p:cNvPr id="5" name="Shape 2"/>
          <p:cNvSpPr/>
          <p:nvPr/>
        </p:nvSpPr>
        <p:spPr>
          <a:xfrm>
            <a:off x="5233360" y="2723852"/>
            <a:ext cx="1988691" cy="2024063"/>
          </a:xfrm>
          <a:prstGeom prst="roundRect">
            <a:avLst>
              <a:gd name="adj" fmla="val 349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3"/>
          <p:cNvSpPr/>
          <p:nvPr/>
        </p:nvSpPr>
        <p:spPr>
          <a:xfrm>
            <a:off x="5405005" y="2895501"/>
            <a:ext cx="1645403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MQTT protokol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5405005" y="3253184"/>
            <a:ext cx="1645403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Mali overhead, prikladan za kratke telemetrijske poruke sa senzora</a:t>
            </a:r>
            <a:endParaRPr lang="en-US" sz="1300" dirty="0"/>
          </a:p>
        </p:txBody>
      </p:sp>
      <p:sp>
        <p:nvSpPr>
          <p:cNvPr id="8" name="Shape 5"/>
          <p:cNvSpPr/>
          <p:nvPr/>
        </p:nvSpPr>
        <p:spPr>
          <a:xfrm>
            <a:off x="7387346" y="2723852"/>
            <a:ext cx="1988790" cy="2024063"/>
          </a:xfrm>
          <a:prstGeom prst="roundRect">
            <a:avLst>
              <a:gd name="adj" fmla="val 349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6"/>
          <p:cNvSpPr/>
          <p:nvPr/>
        </p:nvSpPr>
        <p:spPr>
          <a:xfrm>
            <a:off x="7558990" y="2895501"/>
            <a:ext cx="1645502" cy="5169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Upravljanje uređajima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7558990" y="3511649"/>
            <a:ext cx="1645502" cy="105846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ESP32 registriran kao uređaj s pristupnim tokenom za MQTT autentikaciju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9541430" y="2723852"/>
            <a:ext cx="1988790" cy="2024063"/>
          </a:xfrm>
          <a:prstGeom prst="roundRect">
            <a:avLst>
              <a:gd name="adj" fmla="val 3493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9"/>
          <p:cNvSpPr/>
          <p:nvPr/>
        </p:nvSpPr>
        <p:spPr>
          <a:xfrm>
            <a:off x="9713074" y="2895501"/>
            <a:ext cx="1645502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Telemetrija</a:t>
            </a:r>
            <a:endParaRPr lang="en-US" sz="1600" dirty="0"/>
          </a:p>
        </p:txBody>
      </p:sp>
      <p:sp>
        <p:nvSpPr>
          <p:cNvPr id="13" name="Text 10"/>
          <p:cNvSpPr/>
          <p:nvPr/>
        </p:nvSpPr>
        <p:spPr>
          <a:xfrm>
            <a:off x="9713074" y="3253184"/>
            <a:ext cx="1645502" cy="132308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Kontinuirano prikupljanje i timestamping podataka o stanju mjesta i udaljenosti</a:t>
            </a:r>
            <a:endParaRPr lang="en-US" sz="1300" dirty="0"/>
          </a:p>
        </p:txBody>
      </p:sp>
      <p:sp>
        <p:nvSpPr>
          <p:cNvPr id="14" name="Shape 11"/>
          <p:cNvSpPr/>
          <p:nvPr/>
        </p:nvSpPr>
        <p:spPr>
          <a:xfrm>
            <a:off x="5233360" y="4913213"/>
            <a:ext cx="6296860" cy="1230213"/>
          </a:xfrm>
          <a:prstGeom prst="roundRect">
            <a:avLst>
              <a:gd name="adj" fmla="val 5647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5405005" y="5084862"/>
            <a:ext cx="2067369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Dashboard</a:t>
            </a:r>
            <a:endParaRPr lang="en-US" sz="1600" dirty="0"/>
          </a:p>
        </p:txBody>
      </p:sp>
      <p:sp>
        <p:nvSpPr>
          <p:cNvPr id="16" name="Text 13"/>
          <p:cNvSpPr/>
          <p:nvPr/>
        </p:nvSpPr>
        <p:spPr>
          <a:xfrm>
            <a:off x="5405005" y="5442545"/>
            <a:ext cx="5953571" cy="52923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Dinamički HTML/CSS widgeti s prikazom u stvarnom vremenu (Realtime: last 1 min)</a:t>
            </a:r>
            <a:endParaRPr lang="en-US" sz="13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849908"/>
            <a:ext cx="7808816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Rule Engine i transformacija podataka</a:t>
            </a:r>
            <a:endParaRPr lang="en-US" sz="32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8411" y="1625004"/>
            <a:ext cx="8434871" cy="3318173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574" y="5201543"/>
            <a:ext cx="10868547" cy="80654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Najveći izazov bio je razdvojiti podatke fizičkog senzora (mjesto A1) od simulacijskih podataka. U Rule Engine ubačen je prilagođeni </a:t>
            </a:r>
            <a:r>
              <a:rPr lang="en-US" sz="13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Transformation Script čvor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koji presreće svaku MQTT poruku, analizira </a:t>
            </a:r>
            <a:r>
              <a:rPr lang="en-US" sz="13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parking_id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 kreira univerzalne telemetrijske ključeve: </a:t>
            </a:r>
            <a:r>
              <a:rPr lang="en-US" sz="13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tip_mjesta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3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zadnja_garaza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3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zadnje_mjesto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</a:t>
            </a:r>
            <a:r>
              <a:rPr lang="en-US" sz="1300" dirty="0">
                <a:solidFill>
                  <a:srgbClr val="3C3939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zadnje_stanje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Nakon obrade podaci se prosljeđuju u čvor </a:t>
            </a:r>
            <a:r>
              <a:rPr lang="en-US" sz="130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Save Timeseries</a:t>
            </a: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i trajno zapisuju u bazu platforme.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6503" y="481112"/>
            <a:ext cx="7310453" cy="457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8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ThingsBoard Dashboard - SmartParking</a:t>
            </a:r>
            <a:endParaRPr lang="en-US" sz="28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39887" y="1141760"/>
            <a:ext cx="7481998" cy="3763963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641036" y="5108476"/>
            <a:ext cx="5381590" cy="1268413"/>
          </a:xfrm>
          <a:prstGeom prst="roundRect">
            <a:avLst>
              <a:gd name="adj" fmla="val 8317"/>
            </a:avLst>
          </a:prstGeom>
          <a:solidFill>
            <a:srgbClr val="1B1B27">
              <a:alpha val="95000"/>
            </a:srgbClr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Text 2"/>
          <p:cNvSpPr/>
          <p:nvPr/>
        </p:nvSpPr>
        <p:spPr>
          <a:xfrm>
            <a:off x="787480" y="5238254"/>
            <a:ext cx="2441117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Dinamički widgeti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787480" y="5596930"/>
            <a:ext cx="5088703" cy="6631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HTML Value Cards mijenjaju HTML strukturu i CSS boje ovisno o telemetrijskim vrijednostima. Sustav razlikuje tip mjesta, garažu i status (slobodno/zauzeto).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6280886" y="5238254"/>
            <a:ext cx="2441117" cy="2288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Prioritet senzora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6280886" y="5596930"/>
            <a:ext cx="5170656" cy="66317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26000"/>
              </a:lnSpc>
              <a:buNone/>
            </a:pP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Kada fizički senzor detektira promjenu (prekrivanje HC-SR04), dashboard prepoznaje prioritet i prikazuje podatke s </a:t>
            </a:r>
            <a:r>
              <a:rPr lang="en-US" sz="1150" b="1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parking_demo / fizičko mjesto A1</a:t>
            </a:r>
            <a:r>
              <a:rPr lang="en-US" sz="11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. Logika izmjene boja izvodi se lokalno f(x) funkcijom.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1380530"/>
            <a:ext cx="5759405" cy="4134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Web aplikacija i korisničko sučelje</a:t>
            </a:r>
            <a:endParaRPr lang="en-US" sz="26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16347" y="2219920"/>
            <a:ext cx="5759306" cy="31623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61574" y="5286970"/>
            <a:ext cx="11478132" cy="1905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20000"/>
              </a:lnSpc>
              <a:buNone/>
            </a:pP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61574" y="1169690"/>
            <a:ext cx="6234453" cy="5167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325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Tehnički detalji web aplikacije</a:t>
            </a:r>
            <a:endParaRPr lang="en-US" sz="3250" dirty="0"/>
          </a:p>
        </p:txBody>
      </p:sp>
      <p:sp>
        <p:nvSpPr>
          <p:cNvPr id="3" name="Text 1"/>
          <p:cNvSpPr/>
          <p:nvPr/>
        </p:nvSpPr>
        <p:spPr>
          <a:xfrm>
            <a:off x="661574" y="2099766"/>
            <a:ext cx="2676954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Frontend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61574" y="2523530"/>
            <a:ext cx="5232567" cy="181907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React + Vite razvojno okruženje</a:t>
            </a:r>
            <a:endParaRPr lang="en-US" sz="13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Leaflet + OpenStreetMap za kartu</a:t>
            </a:r>
            <a:endParaRPr lang="en-US" sz="13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REST API za početno stanje</a:t>
            </a:r>
            <a:endParaRPr lang="en-US" sz="13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WebSocket za real-time ažuriranje</a:t>
            </a:r>
            <a:endParaRPr lang="en-US" sz="13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Zahtjevi se šalju relativno (bez hardkodirane IP adrese) - radi na localhost, IP i ngrok tunelu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303904" y="2099766"/>
            <a:ext cx="2872410" cy="25846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6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Backend i Infrastruktura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6303904" y="2523530"/>
            <a:ext cx="5232567" cy="15544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Node.js + Express; SQLite baza podataka</a:t>
            </a:r>
            <a:endParaRPr lang="en-US" sz="13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HAProxy na portu 80 - jedina ulazna točka</a:t>
            </a:r>
            <a:endParaRPr lang="en-US" sz="13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WebSocket prosljeđivanje ispravno konfigurirano u HAProxyju</a:t>
            </a:r>
            <a:endParaRPr lang="en-US" sz="13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ngrok za javni HTTPS tunel (demo i testiranje)</a:t>
            </a:r>
            <a:endParaRPr lang="en-US" sz="1300" dirty="0"/>
          </a:p>
          <a:p>
            <a:pPr marL="342900" indent="-342900" algn="l">
              <a:lnSpc>
                <a:spcPct val="133000"/>
              </a:lnSpc>
              <a:buSzPct val="100000"/>
              <a:buChar char="•"/>
            </a:pPr>
            <a:r>
              <a:rPr lang="en-US" sz="130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Odvajanje prikaza od logike - React komponente vs. servisi/helperi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61574" y="4586486"/>
            <a:ext cx="10868547" cy="915789"/>
          </a:xfrm>
          <a:prstGeom prst="roundRect">
            <a:avLst>
              <a:gd name="adj" fmla="val 7585"/>
            </a:avLst>
          </a:prstGeom>
          <a:solidFill>
            <a:srgbClr val="B6D6FC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6868" y="4826198"/>
            <a:ext cx="206667" cy="16529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198830" y="4776589"/>
            <a:ext cx="10165996" cy="5355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33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U Docker okruženju simulacija dohvaća backend putem naziva servisa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http://backend:3000</a:t>
            </a: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a ne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</a:t>
            </a: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, jer </a:t>
            </a:r>
            <a:r>
              <a:rPr lang="en-US" sz="1300" dirty="0">
                <a:solidFill>
                  <a:srgbClr val="000000"/>
                </a:solidFill>
                <a:highlight>
                  <a:srgbClr val="F2F2F2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localhost</a:t>
            </a:r>
            <a:r>
              <a:rPr lang="en-US" sz="1300" dirty="0">
                <a:solidFill>
                  <a:srgbClr val="000000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 označava sam container.</a:t>
            </a:r>
            <a:endParaRPr lang="en-US" sz="13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4571886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181669" y="478433"/>
            <a:ext cx="3658898" cy="3810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400" dirty="0">
                <a:solidFill>
                  <a:srgbClr val="1B1B27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Zaključak</a:t>
            </a:r>
            <a:endParaRPr lang="en-US" sz="2400" dirty="0"/>
          </a:p>
        </p:txBody>
      </p:sp>
      <p:sp>
        <p:nvSpPr>
          <p:cNvPr id="4" name="Text 1"/>
          <p:cNvSpPr/>
          <p:nvPr/>
        </p:nvSpPr>
        <p:spPr>
          <a:xfrm>
            <a:off x="5181669" y="994470"/>
            <a:ext cx="6400243" cy="50839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SmartParking sustav kombinira fizički IoT senzor, simulaciju, MQTT komunikaciju, ThingsBoard platformu i React web aplikaciju u cjelovito rješenje za pametno upravljanje parkiranjem. Sustav je modularan, skalabilan i jednostavan za pokretanje zahvaljujući Docker Composeu.</a:t>
            </a:r>
            <a:endParaRPr lang="en-US" sz="950" dirty="0"/>
          </a:p>
        </p:txBody>
      </p:sp>
      <p:sp>
        <p:nvSpPr>
          <p:cNvPr id="5" name="Shape 2"/>
          <p:cNvSpPr/>
          <p:nvPr/>
        </p:nvSpPr>
        <p:spPr>
          <a:xfrm>
            <a:off x="5181669" y="1604070"/>
            <a:ext cx="6400243" cy="1126430"/>
          </a:xfrm>
          <a:prstGeom prst="roundRect">
            <a:avLst>
              <a:gd name="adj" fmla="val 454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3"/>
          <p:cNvSpPr/>
          <p:nvPr/>
        </p:nvSpPr>
        <p:spPr>
          <a:xfrm>
            <a:off x="5309955" y="1732359"/>
            <a:ext cx="365910" cy="365919"/>
          </a:xfrm>
          <a:prstGeom prst="roundRect">
            <a:avLst>
              <a:gd name="adj" fmla="val 20822190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410561" y="1832967"/>
            <a:ext cx="164600" cy="164604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309955" y="2188170"/>
            <a:ext cx="1524656" cy="190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ESP32 + HC-SR04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5309955" y="2432745"/>
            <a:ext cx="6143670" cy="16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Fizička detekcija vozila u stvarnom vremenu</a:t>
            </a:r>
            <a:endParaRPr lang="en-US" sz="950" dirty="0"/>
          </a:p>
        </p:txBody>
      </p:sp>
      <p:sp>
        <p:nvSpPr>
          <p:cNvPr id="10" name="Shape 6"/>
          <p:cNvSpPr/>
          <p:nvPr/>
        </p:nvSpPr>
        <p:spPr>
          <a:xfrm>
            <a:off x="5181669" y="2820392"/>
            <a:ext cx="6400243" cy="1126430"/>
          </a:xfrm>
          <a:prstGeom prst="roundRect">
            <a:avLst>
              <a:gd name="adj" fmla="val 454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Shape 7"/>
          <p:cNvSpPr/>
          <p:nvPr/>
        </p:nvSpPr>
        <p:spPr>
          <a:xfrm>
            <a:off x="5309955" y="2948682"/>
            <a:ext cx="365910" cy="365919"/>
          </a:xfrm>
          <a:prstGeom prst="roundRect">
            <a:avLst>
              <a:gd name="adj" fmla="val 20822190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2" name="Image 2" descr="preencoded.png"/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410561" y="3049290"/>
            <a:ext cx="164600" cy="16460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5309955" y="3404493"/>
            <a:ext cx="1524656" cy="190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ThingsBoard</a:t>
            </a:r>
            <a:endParaRPr lang="en-US" sz="1200" dirty="0"/>
          </a:p>
        </p:txBody>
      </p:sp>
      <p:sp>
        <p:nvSpPr>
          <p:cNvPr id="14" name="Text 9"/>
          <p:cNvSpPr/>
          <p:nvPr/>
        </p:nvSpPr>
        <p:spPr>
          <a:xfrm>
            <a:off x="5309955" y="3649067"/>
            <a:ext cx="6143670" cy="16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IoT nadzor, telemetrija i dashboard</a:t>
            </a:r>
            <a:endParaRPr lang="en-US" sz="950" dirty="0"/>
          </a:p>
        </p:txBody>
      </p:sp>
      <p:sp>
        <p:nvSpPr>
          <p:cNvPr id="15" name="Shape 10"/>
          <p:cNvSpPr/>
          <p:nvPr/>
        </p:nvSpPr>
        <p:spPr>
          <a:xfrm>
            <a:off x="5181669" y="4036715"/>
            <a:ext cx="6400243" cy="1126430"/>
          </a:xfrm>
          <a:prstGeom prst="roundRect">
            <a:avLst>
              <a:gd name="adj" fmla="val 454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Shape 11"/>
          <p:cNvSpPr/>
          <p:nvPr/>
        </p:nvSpPr>
        <p:spPr>
          <a:xfrm>
            <a:off x="5309955" y="4165005"/>
            <a:ext cx="365910" cy="365919"/>
          </a:xfrm>
          <a:prstGeom prst="roundRect">
            <a:avLst>
              <a:gd name="adj" fmla="val 20822190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17" name="Image 3" descr="preencoded.png"/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410561" y="4265613"/>
            <a:ext cx="164600" cy="164604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5309955" y="4620816"/>
            <a:ext cx="1524656" cy="190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React + WebSocket</a:t>
            </a:r>
            <a:endParaRPr lang="en-US" sz="1200" dirty="0"/>
          </a:p>
        </p:txBody>
      </p:sp>
      <p:sp>
        <p:nvSpPr>
          <p:cNvPr id="19" name="Text 13"/>
          <p:cNvSpPr/>
          <p:nvPr/>
        </p:nvSpPr>
        <p:spPr>
          <a:xfrm>
            <a:off x="5309955" y="4865390"/>
            <a:ext cx="6143670" cy="16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Real-time korisničko sučelje s kartom</a:t>
            </a:r>
            <a:endParaRPr lang="en-US" sz="950" dirty="0"/>
          </a:p>
        </p:txBody>
      </p:sp>
      <p:sp>
        <p:nvSpPr>
          <p:cNvPr id="20" name="Shape 14"/>
          <p:cNvSpPr/>
          <p:nvPr/>
        </p:nvSpPr>
        <p:spPr>
          <a:xfrm>
            <a:off x="5181669" y="5253038"/>
            <a:ext cx="6400243" cy="1126430"/>
          </a:xfrm>
          <a:prstGeom prst="roundRect">
            <a:avLst>
              <a:gd name="adj" fmla="val 4548"/>
            </a:avLst>
          </a:prstGeom>
          <a:solidFill>
            <a:srgbClr val="E1E1EA"/>
          </a:solidFill>
          <a:ln w="6350">
            <a:solidFill>
              <a:srgbClr val="C7C7D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5"/>
          <p:cNvSpPr/>
          <p:nvPr/>
        </p:nvSpPr>
        <p:spPr>
          <a:xfrm>
            <a:off x="5309955" y="5381327"/>
            <a:ext cx="365910" cy="365919"/>
          </a:xfrm>
          <a:prstGeom prst="roundRect">
            <a:avLst>
              <a:gd name="adj" fmla="val 20822190"/>
            </a:avLst>
          </a:prstGeom>
          <a:solidFill>
            <a:srgbClr val="1B1B27"/>
          </a:solidFill>
          <a:ln/>
        </p:spPr>
        <p:txBody>
          <a:bodyPr/>
          <a:lstStyle/>
          <a:p>
            <a:endParaRPr lang="en-US"/>
          </a:p>
        </p:txBody>
      </p:sp>
      <p:pic>
        <p:nvPicPr>
          <p:cNvPr id="22" name="Image 4" descr="preencoded.png"/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5410561" y="5481935"/>
            <a:ext cx="164600" cy="164604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5309955" y="5837138"/>
            <a:ext cx="1524656" cy="1905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3C3939"/>
                </a:solidFill>
                <a:latin typeface="Raleway" pitchFamily="34" charset="0"/>
                <a:ea typeface="Raleway" pitchFamily="34" charset="-122"/>
                <a:cs typeface="Raleway" pitchFamily="34" charset="-120"/>
              </a:rPr>
              <a:t>Docker Compose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5309955" y="6081713"/>
            <a:ext cx="6143670" cy="16946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6000"/>
              </a:lnSpc>
              <a:buNone/>
            </a:pPr>
            <a:r>
              <a:rPr lang="en-US" sz="950" dirty="0">
                <a:solidFill>
                  <a:srgbClr val="3C3939"/>
                </a:solidFill>
                <a:latin typeface="Roboto" pitchFamily="34" charset="0"/>
                <a:ea typeface="Roboto" pitchFamily="34" charset="-122"/>
                <a:cs typeface="Roboto" pitchFamily="34" charset="-120"/>
              </a:rPr>
              <a:t>Jednostavno pokretanje svih servisa jednom naredbom</a:t>
            </a:r>
            <a:endParaRPr lang="en-US" sz="9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1966</Words>
  <Application>Microsoft Macintosh PowerPoint</Application>
  <PresentationFormat>Widescreen</PresentationFormat>
  <Paragraphs>207</Paragraphs>
  <Slides>21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21</vt:i4>
      </vt:variant>
    </vt:vector>
  </HeadingPairs>
  <TitlesOfParts>
    <vt:vector size="27" baseType="lpstr">
      <vt:lpstr>Consolas</vt:lpstr>
      <vt:lpstr>Arial</vt:lpstr>
      <vt:lpstr>Raleway</vt:lpstr>
      <vt:lpstr>Raleway Light</vt:lpstr>
      <vt:lpstr>Roboto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Matan Budimir</cp:lastModifiedBy>
  <cp:revision>4</cp:revision>
  <dcterms:created xsi:type="dcterms:W3CDTF">2026-06-08T21:09:05Z</dcterms:created>
  <dcterms:modified xsi:type="dcterms:W3CDTF">2026-06-08T21:18:16Z</dcterms:modified>
</cp:coreProperties>
</file>